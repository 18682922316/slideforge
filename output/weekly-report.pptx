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1F4E79"/>
                </a:solidFill>
                <a:latin typeface="Source Han Sans CN"/>
              </a:rPr>
              <a:t>Efficient Sparse Attention for Long-Context LLMs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Source Han Sans CN"/>
              </a:rPr>
              <a:t>Author Name · Affiliation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4E79"/>
                </a:solidFill>
                <a:latin typeface="Source Han Sans CN"/>
              </a:rP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Source Han Sans CN"/>
              </a:rPr>
              <a:t>长上下文场景对注意力机制提出新挑战</a:t>
            </a:r>
          </a:p>
          <a:p>
            <a:pPr/>
            <a:r>
              <a:rPr>
                <a:latin typeface="Source Han Sans CN"/>
              </a:rPr>
              <a:t>全注意力计算复杂度 \(O(n^2)\)，显存压力显著</a:t>
            </a:r>
          </a:p>
          <a:p>
            <a:pPr/>
            <a:r>
              <a:rPr>
                <a:latin typeface="Source Han Sans CN"/>
              </a:rPr>
              <a:t>现有稀疏方法在精度与效率间难以兼顾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4E79"/>
                </a:solidFill>
                <a:latin typeface="Source Han Sans CN"/>
              </a:rPr>
              <a:t>Method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>
                <a:latin typeface="Source Han Sans CN"/>
              </a:rPr>
              <a:t>我们提出一种基于动态路由的稀疏注意力（DRSA）：</a:t>
            </a:r>
          </a:p>
          <a:p>
            <a:pPr/>
            <a:r>
              <a:rPr>
                <a:latin typeface="Source Han Sans CN"/>
              </a:rPr>
              <a:t>在每个解码步动态选择 Top-k 关键 token</a:t>
            </a:r>
          </a:p>
          <a:p>
            <a:pPr/>
            <a:r>
              <a:rPr>
                <a:latin typeface="Source Han Sans CN"/>
              </a:rPr>
              <a:t>通过低秩近似估计 token 重要性</a:t>
            </a:r>
          </a:p>
          <a:p>
            <a:pPr/>
            <a:r>
              <a:rPr>
                <a:latin typeface="Source Han Sans CN"/>
              </a:rPr>
              <a:t>与 KV-Cache 压缩协同优化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mermaid-6703018555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3931920" cy="9359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4E79"/>
                </a:solidFill>
                <a:latin typeface="Source Han Sans CN"/>
              </a:rPr>
              <a:t>Architecture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pic>
        <p:nvPicPr>
          <p:cNvPr id="5" name="Picture 4" descr="mermaid-4d547d85e2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2393044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4E79"/>
                </a:solidFill>
                <a:latin typeface="Source Han Sans CN"/>
              </a:rPr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Source Han Sans CN"/>
              </a:rPr>
              <a:t>**Datasets**: PG-19, LongBench, ZeroSCROLLS</a:t>
            </a:r>
          </a:p>
          <a:p>
            <a:pPr/>
            <a:r>
              <a:rPr>
                <a:latin typeface="Source Han Sans CN"/>
              </a:rPr>
              <a:t>**Backbones**: LLaMA-2-7B, Mistral-7B</a:t>
            </a:r>
          </a:p>
          <a:p>
            <a:pPr/>
            <a:r>
              <a:rPr>
                <a:latin typeface="Source Han Sans CN"/>
              </a:rPr>
              <a:t>**Baselines**: Full Attention, Longformer, BigBird, StreamingLLM</a:t>
            </a:r>
          </a:p>
          <a:p>
            <a:pPr/>
            <a:r>
              <a:rPr>
                <a:latin typeface="Source Han Sans CN"/>
              </a:rPr>
              <a:t>**Hardware**: 8 × A100 80GB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4E79"/>
                </a:solidFill>
                <a:latin typeface="Source Han Sans CN"/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r>
                        <a:rPr b="1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Acc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Latency (ms) 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Mem (GB) ↓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Full Attn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38.4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Longformer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BigBird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16.7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StreamingLLM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**DRSA (Ours)**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**0.821**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**187**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**11.8**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4E79"/>
                </a:solidFill>
                <a:latin typeface="Source Han Sans CN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Source Han Sans CN"/>
              </a:rPr>
              <a:t>DRSA 在 5 个长文本任务上同时改善精度与效率</a:t>
            </a:r>
          </a:p>
          <a:p>
            <a:pPr/>
            <a:r>
              <a:rPr>
                <a:latin typeface="Source Han Sans CN"/>
              </a:rPr>
              <a:t>与现有 KV-Cache 优化方法正交，可叠加使用</a:t>
            </a:r>
          </a:p>
          <a:p>
            <a:pPr/>
            <a:r>
              <a:rPr>
                <a:latin typeface="Source Han Sans CN"/>
              </a:rPr>
              <a:t>代码与权重将开源于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