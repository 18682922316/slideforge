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/>
              <a:t>Efficient Sparse Attention for Long-Context LLMs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 Name · Affiliation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长上下文场景对注意力机制提出新挑战</a:t>
            </a:r>
          </a:p>
          <a:p>
            <a:pPr/>
            <a:r>
              <a:t>全注意力计算复杂度 \(O(n^2)\)，显存压力显著</a:t>
            </a:r>
          </a:p>
          <a:p>
            <a:pPr/>
            <a:r>
              <a:t>现有稀疏方法在精度与效率间难以兼顾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Method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t>我们提出一种基于动态路由的稀疏注意力（DRSA）：</a:t>
            </a:r>
          </a:p>
          <a:p>
            <a:pPr/>
            <a:r>
              <a:t>在每个解码步动态选择 Top-k 关键 token</a:t>
            </a:r>
          </a:p>
          <a:p>
            <a:pPr/>
            <a:r>
              <a:t>通过低秩近似估计 token 重要性</a:t>
            </a:r>
          </a:p>
          <a:p>
            <a:pPr/>
            <a:r>
              <a:t>与 KV-Cache 压缩协同优化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4648200" y="1600200"/>
            <a:ext cx="4038600" cy="45259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874857" y="3863181"/>
            <a:ext cx="34678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113361" y="3863181"/>
            <a:ext cx="34678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983135" y="2867469"/>
            <a:ext cx="891722" cy="199142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50000" bIns="50000" wrap="square">
            <a:noAutofit/>
          </a:bodyPr>
          <a:lstStyle/>
          <a:p>
            <a:pPr algn="ctr"/>
            <a:r>
              <a:rPr sz="1000" b="1">
                <a:solidFill>
                  <a:srgbClr val="202020"/>
                </a:solidFill>
              </a:rPr>
              <a:t>Top-k 路由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1639" y="2867469"/>
            <a:ext cx="891722" cy="199142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50000" bIns="50000" wrap="square">
            <a:noAutofit/>
          </a:bodyPr>
          <a:lstStyle/>
          <a:p>
            <a:pPr algn="ctr"/>
            <a:r>
              <a:rPr sz="1000" b="1">
                <a:solidFill>
                  <a:srgbClr val="202020"/>
                </a:solidFill>
              </a:rPr>
              <a:t>低秩估计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60143" y="2867469"/>
            <a:ext cx="891722" cy="199142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50000" bIns="50000" wrap="square">
            <a:noAutofit/>
          </a:bodyPr>
          <a:lstStyle/>
          <a:p>
            <a:pPr algn="ctr"/>
            <a:r>
              <a:rPr sz="1000" b="1">
                <a:solidFill>
                  <a:srgbClr val="202020"/>
                </a:solidFill>
              </a:rPr>
              <a:t>KV 协同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Architecture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792288" y="612775"/>
            <a:ext cx="548640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096953" y="2670175"/>
            <a:ext cx="353325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358825" y="2670175"/>
            <a:ext cx="353325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620697" y="2670175"/>
            <a:ext cx="353325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88406" y="1764919"/>
            <a:ext cx="908547" cy="1810512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50000" bIns="50000" wrap="square">
            <a:noAutofit/>
          </a:bodyPr>
          <a:lstStyle/>
          <a:p>
            <a:pPr algn="ctr"/>
            <a:r>
              <a:rPr sz="1000" b="1">
                <a:solidFill>
                  <a:srgbClr val="202020"/>
                </a:solidFill>
              </a:rPr>
              <a:t>Token序列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78" y="1764919"/>
            <a:ext cx="908547" cy="1810512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50000" bIns="50000" wrap="square">
            <a:noAutofit/>
          </a:bodyPr>
          <a:lstStyle/>
          <a:p>
            <a:pPr algn="ctr"/>
            <a:r>
              <a:rPr sz="1000" b="1">
                <a:solidFill>
                  <a:srgbClr val="202020"/>
                </a:solidFill>
              </a:rPr>
              <a:t>动态路由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12150" y="1764919"/>
            <a:ext cx="908547" cy="1810512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50000" bIns="50000" wrap="square">
            <a:noAutofit/>
          </a:bodyPr>
          <a:lstStyle/>
          <a:p>
            <a:pPr algn="ctr"/>
            <a:r>
              <a:rPr sz="1000" b="1">
                <a:solidFill>
                  <a:srgbClr val="202020"/>
                </a:solidFill>
              </a:rPr>
              <a:t>稀疏注意力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74022" y="1764919"/>
            <a:ext cx="908547" cy="1810512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000" rIns="50000" tIns="50000" bIns="50000" wrap="square">
            <a:noAutofit/>
          </a:bodyPr>
          <a:lstStyle/>
          <a:p>
            <a:pPr algn="ctr"/>
            <a:r>
              <a:rPr sz="1000" b="1">
                <a:solidFill>
                  <a:srgbClr val="202020"/>
                </a:solidFill>
              </a:rPr>
              <a:t>上下文输出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**Datasets**: PG-19, LongBench, ZeroSCROLLS</a:t>
            </a:r>
          </a:p>
          <a:p>
            <a:pPr/>
            <a:r>
              <a:t>**Backbones**: LLaMA-2-7B, Mistral-7B</a:t>
            </a:r>
          </a:p>
          <a:p>
            <a:pPr/>
            <a:r>
              <a:t>**Baselines**: Full Attention, Longformer, BigBird, StreamingLLM</a:t>
            </a:r>
          </a:p>
          <a:p>
            <a:pPr/>
            <a:r>
              <a:t>**Hardware**: 8 × A100 80GB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rPr b="1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Acc 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Latency (ms) 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Mem (GB) 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Full Attn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38.4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Longformer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14.1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BigBird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16.7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StreamingLLM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12.2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**DRSA (Ours)**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**0.821**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**187**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**11.8**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DRSA 在 5 个长文本任务上同时改善精度与效率</a:t>
            </a:r>
          </a:p>
          <a:p>
            <a:pPr/>
            <a:r>
              <a:t>与现有 KV-Cache 优化方法正交，可叠加使用</a:t>
            </a:r>
          </a:p>
          <a:p>
            <a:pPr/>
            <a:r>
              <a:t>代码与权重将开源于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